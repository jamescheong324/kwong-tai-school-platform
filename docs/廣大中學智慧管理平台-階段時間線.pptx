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2A4A"/>
    <a:srgbClr val="FFFF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682"/>
    <p:restoredTop sz="94610"/>
  </p:normalViewPr>
  <p:slideViewPr>
    <p:cSldViewPr snapToGrid="0" snapToObjects="1">
      <p:cViewPr varScale="1">
        <p:scale>
          <a:sx n="192" d="100"/>
          <a:sy n="192" d="100"/>
        </p:scale>
        <p:origin x="10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5475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ckie/.cursor/projects/Users-jackie-Developer-kwong-tai-school-platform/assets/roadmap-roa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200"/>
                    </a14:imgEffect>
                  </a14:imgLayer>
                </a14:imgProps>
              </a:ext>
            </a:extLst>
          </a:blip>
          <a:srcRect b="14250"/>
          <a:stretch>
            <a:fillRect/>
          </a:stretch>
        </p:blipFill>
        <p:spPr>
          <a:xfrm>
            <a:off x="6773" y="1011051"/>
            <a:ext cx="12191695" cy="5880728"/>
          </a:xfrm>
          <a:prstGeom prst="rect">
            <a:avLst/>
          </a:prstGeom>
          <a:ln>
            <a:noFill/>
          </a:ln>
        </p:spPr>
      </p:pic>
      <p:sp>
        <p:nvSpPr>
          <p:cNvPr id="4" name="Text 1"/>
          <p:cNvSpPr/>
          <p:nvPr/>
        </p:nvSpPr>
        <p:spPr>
          <a:xfrm>
            <a:off x="438912" y="242361"/>
            <a:ext cx="528987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kern="0" spc="150" dirty="0" err="1">
                <a:solidFill>
                  <a:srgbClr val="1A2744"/>
                </a:solidFill>
                <a:latin typeface="Yuanti TC" panose="02010600040101010101" pitchFamily="2" charset="-120"/>
                <a:ea typeface="Yuanti TC" panose="02010600040101010101" pitchFamily="2" charset="-120"/>
                <a:cs typeface="Microsoft JhengHei" pitchFamily="34" charset="-120"/>
              </a:rPr>
              <a:t>廣大中學智慧管理平台</a:t>
            </a:r>
            <a:endParaRPr lang="en-US" sz="4000" kern="0" spc="150" dirty="0">
              <a:solidFill>
                <a:srgbClr val="1A2744"/>
              </a:solidFill>
              <a:latin typeface="Yuanti TC" panose="02010600040101010101" pitchFamily="2" charset="-120"/>
              <a:ea typeface="Yuanti TC" panose="02010600040101010101" pitchFamily="2" charset="-120"/>
              <a:cs typeface="Microsoft JhengHei" pitchFamily="34" charset="-12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3074848" y="2350804"/>
            <a:ext cx="45719" cy="34257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013252" y="5776528"/>
            <a:ext cx="164592" cy="16459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noFill/>
            <a:prstDash val="solid"/>
          </a:ln>
        </p:spPr>
        <p:txBody>
          <a:bodyPr/>
          <a:lstStyle/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477547" y="1597914"/>
            <a:ext cx="10750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A4A"/>
                </a:solidFill>
                <a:latin typeface="Playfair Display Black" pitchFamily="2" charset="77"/>
                <a:ea typeface="Microsoft JhengHei" pitchFamily="34" charset="-122"/>
                <a:cs typeface="Microsoft JhengHei" pitchFamily="34" charset="-120"/>
              </a:rPr>
              <a:t>2026.10</a:t>
            </a:r>
            <a:endParaRPr lang="en-US" sz="2200" dirty="0">
              <a:latin typeface="Playfair Display Medium" pitchFamily="2" charset="77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95670" y="2012729"/>
            <a:ext cx="2673663" cy="347472"/>
          </a:xfrm>
          <a:prstGeom prst="roundRect">
            <a:avLst>
              <a:gd name="adj" fmla="val 5263"/>
            </a:avLst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495671" y="2006197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A4A"/>
                </a:solidFill>
                <a:latin typeface="Yuanti TC" panose="02010600040101010101" pitchFamily="2" charset="-120"/>
                <a:ea typeface="Yuanti TC" panose="02010600040101010101" pitchFamily="2" charset="-120"/>
                <a:cs typeface="Microsoft JhengHei" pitchFamily="34" charset="-120"/>
              </a:rPr>
              <a:t>數據地圖</a:t>
            </a:r>
            <a:endParaRPr lang="en-US" sz="1400" dirty="0">
              <a:latin typeface="Yuanti TC" panose="02010600040101010101" pitchFamily="2" charset="-120"/>
              <a:ea typeface="Yuanti TC" panose="02010600040101010101" pitchFamily="2" charset="-12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F165B91-79E4-658B-9DB1-E3772AA7E634}"/>
              </a:ext>
            </a:extLst>
          </p:cNvPr>
          <p:cNvSpPr/>
          <p:nvPr/>
        </p:nvSpPr>
        <p:spPr>
          <a:xfrm>
            <a:off x="7145676" y="1836478"/>
            <a:ext cx="45719" cy="32055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95B54007-3628-3CF2-4C4D-C34F265D3388}"/>
              </a:ext>
            </a:extLst>
          </p:cNvPr>
          <p:cNvSpPr/>
          <p:nvPr/>
        </p:nvSpPr>
        <p:spPr>
          <a:xfrm>
            <a:off x="7084080" y="5042019"/>
            <a:ext cx="164592" cy="16459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noFill/>
            <a:prstDash val="solid"/>
          </a:ln>
        </p:spPr>
        <p:txBody>
          <a:bodyPr/>
          <a:lstStyle/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B4E89FE0-F981-1595-014C-D475971868B6}"/>
              </a:ext>
            </a:extLst>
          </p:cNvPr>
          <p:cNvSpPr/>
          <p:nvPr/>
        </p:nvSpPr>
        <p:spPr>
          <a:xfrm>
            <a:off x="3949102" y="1062838"/>
            <a:ext cx="10750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A4A"/>
                </a:solidFill>
                <a:latin typeface="Playfair Display Black" pitchFamily="2" charset="77"/>
                <a:ea typeface="Microsoft JhengHei" pitchFamily="34" charset="-122"/>
                <a:cs typeface="Microsoft JhengHei" pitchFamily="34" charset="-120"/>
              </a:rPr>
              <a:t>2027.04</a:t>
            </a:r>
            <a:endParaRPr lang="en-US" sz="2200" dirty="0">
              <a:latin typeface="Playfair Display Medium" pitchFamily="2" charset="77"/>
            </a:endParaRPr>
          </a:p>
        </p:txBody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F3F6C73B-08C0-7C36-0A52-FDE8697371C0}"/>
              </a:ext>
            </a:extLst>
          </p:cNvPr>
          <p:cNvSpPr/>
          <p:nvPr/>
        </p:nvSpPr>
        <p:spPr>
          <a:xfrm>
            <a:off x="3949102" y="1477653"/>
            <a:ext cx="3291060" cy="347472"/>
          </a:xfrm>
          <a:prstGeom prst="roundRect">
            <a:avLst>
              <a:gd name="adj" fmla="val 5263"/>
            </a:avLst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DDD25C5C-327E-B5F6-0103-27CBCBE0A314}"/>
              </a:ext>
            </a:extLst>
          </p:cNvPr>
          <p:cNvSpPr/>
          <p:nvPr/>
        </p:nvSpPr>
        <p:spPr>
          <a:xfrm>
            <a:off x="4317798" y="1471121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 err="1">
                <a:solidFill>
                  <a:srgbClr val="1E2A4A"/>
                </a:solidFill>
                <a:latin typeface="Yuanti TC" panose="02010600040101010101" pitchFamily="2" charset="-120"/>
                <a:ea typeface="Yuanti TC" panose="02010600040101010101" pitchFamily="2" charset="-120"/>
              </a:rPr>
              <a:t>一期交付</a:t>
            </a:r>
            <a:endParaRPr lang="en-US" sz="1400" dirty="0">
              <a:latin typeface="Yuanti TC" panose="02010600040101010101" pitchFamily="2" charset="-120"/>
              <a:ea typeface="Yuanti TC" panose="02010600040101010101" pitchFamily="2" charset="-120"/>
            </a:endParaRPr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DA5AD9D5-8910-00A7-F8C6-ED823BC3588B}"/>
              </a:ext>
            </a:extLst>
          </p:cNvPr>
          <p:cNvSpPr/>
          <p:nvPr/>
        </p:nvSpPr>
        <p:spPr>
          <a:xfrm>
            <a:off x="11192991" y="1344307"/>
            <a:ext cx="45719" cy="15830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4">
            <a:extLst>
              <a:ext uri="{FF2B5EF4-FFF2-40B4-BE49-F238E27FC236}">
                <a16:creationId xmlns:a16="http://schemas.microsoft.com/office/drawing/2014/main" id="{E7CE3B8D-108F-527C-9273-2C00F58BB415}"/>
              </a:ext>
            </a:extLst>
          </p:cNvPr>
          <p:cNvSpPr/>
          <p:nvPr/>
        </p:nvSpPr>
        <p:spPr>
          <a:xfrm>
            <a:off x="11131395" y="2891415"/>
            <a:ext cx="164592" cy="16459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noFill/>
            <a:prstDash val="solid"/>
          </a:ln>
        </p:spPr>
        <p:txBody>
          <a:bodyPr/>
          <a:lstStyle/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6D3019A4-3904-CBC9-6398-E72B0EB3735D}"/>
              </a:ext>
            </a:extLst>
          </p:cNvPr>
          <p:cNvSpPr/>
          <p:nvPr/>
        </p:nvSpPr>
        <p:spPr>
          <a:xfrm>
            <a:off x="8827107" y="591416"/>
            <a:ext cx="10750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A4A"/>
                </a:solidFill>
                <a:latin typeface="Playfair Display Black" pitchFamily="2" charset="77"/>
                <a:ea typeface="Microsoft JhengHei" pitchFamily="34" charset="-122"/>
                <a:cs typeface="Microsoft JhengHei" pitchFamily="34" charset="-120"/>
              </a:rPr>
              <a:t>2027.10</a:t>
            </a:r>
            <a:endParaRPr lang="en-US" sz="2200" dirty="0">
              <a:latin typeface="Playfair Display Medium" pitchFamily="2" charset="77"/>
            </a:endParaRPr>
          </a:p>
        </p:txBody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831566FB-F701-3C7C-A1FA-82C743B7C38B}"/>
              </a:ext>
            </a:extLst>
          </p:cNvPr>
          <p:cNvSpPr/>
          <p:nvPr/>
        </p:nvSpPr>
        <p:spPr>
          <a:xfrm>
            <a:off x="8818597" y="1006231"/>
            <a:ext cx="2468880" cy="347472"/>
          </a:xfrm>
          <a:prstGeom prst="roundRect">
            <a:avLst>
              <a:gd name="adj" fmla="val 5263"/>
            </a:avLst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0097C461-E00C-0736-DB4C-01DD3A22FB4A}"/>
              </a:ext>
            </a:extLst>
          </p:cNvPr>
          <p:cNvSpPr/>
          <p:nvPr/>
        </p:nvSpPr>
        <p:spPr>
          <a:xfrm>
            <a:off x="8827107" y="999699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 err="1">
                <a:solidFill>
                  <a:srgbClr val="1E2A4A"/>
                </a:solidFill>
                <a:latin typeface="Yuanti TC" panose="02010600040101010101" pitchFamily="2" charset="-120"/>
                <a:ea typeface="Yuanti TC" panose="02010600040101010101" pitchFamily="2" charset="-120"/>
              </a:rPr>
              <a:t>二期完成</a:t>
            </a:r>
            <a:endParaRPr lang="en-US" sz="1400" dirty="0">
              <a:latin typeface="Yuanti TC" panose="02010600040101010101" pitchFamily="2" charset="-120"/>
              <a:ea typeface="Yuanti TC" panose="02010600040101010101" pitchFamily="2" charset="-120"/>
            </a:endParaRPr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BDA11F84-E9BA-740B-2239-8493C2A0A964}"/>
              </a:ext>
            </a:extLst>
          </p:cNvPr>
          <p:cNvSpPr/>
          <p:nvPr/>
        </p:nvSpPr>
        <p:spPr>
          <a:xfrm>
            <a:off x="8827107" y="1497134"/>
            <a:ext cx="2304288" cy="1329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D2A4A"/>
                </a:solidFill>
                <a:latin typeface="Playfair Display Medium" pitchFamily="2" charset="77"/>
                <a:ea typeface="Yuanti TC" panose="02010600040101010101" pitchFamily="2" charset="-120"/>
              </a:rPr>
              <a:t>Jun. </a:t>
            </a:r>
            <a:r>
              <a:rPr lang="en-US" sz="1400" dirty="0" err="1">
                <a:solidFill>
                  <a:srgbClr val="1D2A4A"/>
                </a:solidFill>
                <a:latin typeface="Playfair Display Medium" pitchFamily="2" charset="77"/>
                <a:ea typeface="Yuanti TC" panose="02010600040101010101" pitchFamily="2" charset="-120"/>
              </a:rPr>
              <a:t>行政審批功能</a:t>
            </a:r>
            <a:endParaRPr lang="en-US" sz="1400" dirty="0">
              <a:solidFill>
                <a:srgbClr val="1D2A4A"/>
              </a:solidFill>
              <a:latin typeface="Playfair Display Medium" pitchFamily="2" charset="77"/>
              <a:ea typeface="Yuanti TC" panose="02010600040101010101" pitchFamily="2" charset="-12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D2A4A"/>
                </a:solidFill>
                <a:latin typeface="Playfair Display Medium" pitchFamily="2" charset="77"/>
                <a:ea typeface="Yuanti TC" panose="02010600040101010101" pitchFamily="2" charset="-120"/>
              </a:rPr>
              <a:t>Aug. </a:t>
            </a:r>
            <a:r>
              <a:rPr lang="en-US" sz="1400" dirty="0" err="1">
                <a:solidFill>
                  <a:srgbClr val="1D2A4A"/>
                </a:solidFill>
                <a:latin typeface="Playfair Display Medium" pitchFamily="2" charset="77"/>
                <a:ea typeface="Yuanti TC" panose="02010600040101010101" pitchFamily="2" charset="-120"/>
              </a:rPr>
              <a:t>採購與資產管理系統</a:t>
            </a:r>
            <a:endParaRPr lang="en-US" sz="1400" dirty="0">
              <a:solidFill>
                <a:srgbClr val="1D2A4A"/>
              </a:solidFill>
              <a:latin typeface="Playfair Display Medium" pitchFamily="2" charset="77"/>
              <a:ea typeface="Yuanti TC" panose="02010600040101010101" pitchFamily="2" charset="-12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D2A4A"/>
                </a:solidFill>
                <a:latin typeface="Playfair Display Medium" pitchFamily="2" charset="77"/>
                <a:ea typeface="Yuanti TC" panose="02010600040101010101" pitchFamily="2" charset="-120"/>
              </a:rPr>
              <a:t>Oct. </a:t>
            </a:r>
            <a:r>
              <a:rPr lang="en-US" sz="1400" dirty="0" err="1">
                <a:solidFill>
                  <a:srgbClr val="1D2A4A"/>
                </a:solidFill>
                <a:latin typeface="Playfair Display Medium" pitchFamily="2" charset="77"/>
                <a:ea typeface="Yuanti TC" panose="02010600040101010101" pitchFamily="2" charset="-120"/>
              </a:rPr>
              <a:t>營運成本分析模槐</a:t>
            </a:r>
            <a:endParaRPr lang="en-US" sz="1400" dirty="0">
              <a:solidFill>
                <a:srgbClr val="1D2A4A"/>
              </a:solidFill>
              <a:latin typeface="Playfair Display Medium" pitchFamily="2" charset="77"/>
              <a:ea typeface="Yuanti TC" panose="02010600040101010101" pitchFamily="2" charset="-12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D2A4A"/>
                </a:solidFill>
                <a:latin typeface="Playfair Display Medium" pitchFamily="2" charset="77"/>
                <a:ea typeface="Yuanti TC" panose="02010600040101010101" pitchFamily="2" charset="-120"/>
              </a:rPr>
              <a:t>Oct. </a:t>
            </a:r>
            <a:r>
              <a:rPr lang="en-US" sz="1400" dirty="0" err="1">
                <a:solidFill>
                  <a:srgbClr val="1D2A4A"/>
                </a:solidFill>
                <a:latin typeface="Playfair Display Medium" pitchFamily="2" charset="77"/>
                <a:ea typeface="Yuanti TC" panose="02010600040101010101" pitchFamily="2" charset="-120"/>
              </a:rPr>
              <a:t>排課系統</a:t>
            </a:r>
            <a:endParaRPr lang="en-US" sz="1400" dirty="0">
              <a:solidFill>
                <a:srgbClr val="1D2A4A"/>
              </a:solidFill>
              <a:latin typeface="Playfair Display Medium" pitchFamily="2" charset="77"/>
              <a:ea typeface="Yuanti TC" panose="02010600040101010101" pitchFamily="2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100" dirty="0"/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4355DDFC-AB29-A020-7620-2527BA97AD7E}"/>
              </a:ext>
            </a:extLst>
          </p:cNvPr>
          <p:cNvSpPr/>
          <p:nvPr/>
        </p:nvSpPr>
        <p:spPr>
          <a:xfrm>
            <a:off x="3949102" y="1953735"/>
            <a:ext cx="2868558" cy="267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rgbClr val="1D2A4A"/>
                </a:solidFill>
                <a:latin typeface="Playfair Display Medium" pitchFamily="2" charset="77"/>
                <a:ea typeface="Yuanti TC" panose="02010600040101010101" pitchFamily="2" charset="-120"/>
              </a:rPr>
              <a:t>手機查看全校出勤、異常提示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rgbClr val="1D2A4A"/>
                </a:solidFill>
                <a:latin typeface="Playfair Display Medium" pitchFamily="2" charset="77"/>
                <a:ea typeface="Yuanti TC" panose="02010600040101010101" pitchFamily="2" charset="-120"/>
              </a:rPr>
              <a:t>搜尋人名或院校，調出學生成績、獎項、品行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rgbClr val="1D2A4A"/>
                </a:solidFill>
                <a:latin typeface="Playfair Display Medium" pitchFamily="2" charset="77"/>
                <a:ea typeface="Yuanti TC" panose="02010600040101010101" pitchFamily="2" charset="-120"/>
              </a:rPr>
              <a:t>按住址篩出住附近的學生</a:t>
            </a:r>
            <a:endParaRPr lang="en-US" altLang="zh-TW" sz="1400" dirty="0">
              <a:solidFill>
                <a:srgbClr val="1D2A4A"/>
              </a:solidFill>
              <a:latin typeface="Playfair Display Medium" pitchFamily="2" charset="77"/>
              <a:ea typeface="Yuanti TC" panose="02010600040101010101" pitchFamily="2" charset="-12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rgbClr val="1D2A4A"/>
                </a:solidFill>
                <a:latin typeface="Playfair Display Medium" pitchFamily="2" charset="77"/>
                <a:ea typeface="Yuanti TC" panose="02010600040101010101" pitchFamily="2" charset="-120"/>
              </a:rPr>
              <a:t>查關聯校友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rgbClr val="1D2A4A"/>
                </a:solidFill>
                <a:latin typeface="Playfair Display Medium" pitchFamily="2" charset="77"/>
                <a:ea typeface="Yuanti TC" panose="02010600040101010101" pitchFamily="2" charset="-120"/>
              </a:rPr>
              <a:t>班主任查看本班名單與交接資料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rgbClr val="1D2A4A"/>
                </a:solidFill>
                <a:latin typeface="Playfair Display Medium" pitchFamily="2" charset="77"/>
                <a:ea typeface="Yuanti TC" panose="02010600040101010101" pitchFamily="2" charset="-120"/>
              </a:rPr>
              <a:t>教師錄入培訓、獲獎、帶隊紀錄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rgbClr val="1D2A4A"/>
                </a:solidFill>
                <a:latin typeface="Playfair Display Medium" pitchFamily="2" charset="77"/>
                <a:ea typeface="Yuanti TC" panose="02010600040101010101" pitchFamily="2" charset="-120"/>
              </a:rPr>
              <a:t>科組上傳教案</a:t>
            </a:r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B0ADF970-2D2F-9B9F-C1E6-75858F0504B7}"/>
              </a:ext>
            </a:extLst>
          </p:cNvPr>
          <p:cNvSpPr/>
          <p:nvPr/>
        </p:nvSpPr>
        <p:spPr>
          <a:xfrm>
            <a:off x="521223" y="2457259"/>
            <a:ext cx="2504858" cy="4081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rgbClr val="1D2A4A"/>
                </a:solidFill>
                <a:latin typeface="Playfair Display Medium" pitchFamily="2" charset="77"/>
                <a:ea typeface="Yuanti TC" panose="02010600040101010101" pitchFamily="2" charset="-120"/>
              </a:rPr>
              <a:t>數據來源清單 </a:t>
            </a:r>
            <a:br>
              <a:rPr lang="en-US" altLang="zh-TW" sz="1400" dirty="0">
                <a:solidFill>
                  <a:srgbClr val="1D2A4A"/>
                </a:solidFill>
                <a:latin typeface="Playfair Display Medium" pitchFamily="2" charset="77"/>
                <a:ea typeface="Yuanti TC" panose="02010600040101010101" pitchFamily="2" charset="-120"/>
              </a:rPr>
            </a:br>
            <a:r>
              <a:rPr lang="en-US" altLang="zh-TW" sz="1100" dirty="0">
                <a:solidFill>
                  <a:schemeClr val="accent1">
                    <a:lumMod val="75000"/>
                  </a:schemeClr>
                </a:solidFill>
                <a:latin typeface="Playfair Display Medium" pitchFamily="2" charset="77"/>
                <a:ea typeface="Yuanti TC" panose="02010600040101010101" pitchFamily="2" charset="-120"/>
              </a:rPr>
              <a:t>e-Class</a:t>
            </a:r>
            <a:r>
              <a:rPr lang="zh-TW" altLang="en-US" sz="1100" dirty="0">
                <a:solidFill>
                  <a:schemeClr val="accent1">
                    <a:lumMod val="75000"/>
                  </a:schemeClr>
                </a:solidFill>
                <a:latin typeface="Playfair Display Medium" pitchFamily="2" charset="77"/>
                <a:ea typeface="Yuanti TC" panose="02010600040101010101" pitchFamily="2" charset="-120"/>
              </a:rPr>
              <a:t>、 </a:t>
            </a:r>
            <a:r>
              <a:rPr lang="en-US" altLang="zh-TW" sz="1100" dirty="0">
                <a:solidFill>
                  <a:schemeClr val="accent1">
                    <a:lumMod val="75000"/>
                  </a:schemeClr>
                </a:solidFill>
                <a:latin typeface="Playfair Display Medium" pitchFamily="2" charset="77"/>
                <a:ea typeface="Yuanti TC" panose="02010600040101010101" pitchFamily="2" charset="-120"/>
              </a:rPr>
              <a:t>Excel</a:t>
            </a:r>
            <a:r>
              <a:rPr lang="zh-TW" altLang="en-US" sz="1100" dirty="0">
                <a:solidFill>
                  <a:schemeClr val="accent1">
                    <a:lumMod val="75000"/>
                  </a:schemeClr>
                </a:solidFill>
                <a:latin typeface="Playfair Display Medium" pitchFamily="2" charset="77"/>
                <a:ea typeface="Yuanti TC" panose="02010600040101010101" pitchFamily="2" charset="-120"/>
              </a:rPr>
              <a:t>、紙本、其他系統</a:t>
            </a:r>
            <a:endParaRPr lang="zh-TW" altLang="en-US" sz="1050" dirty="0">
              <a:solidFill>
                <a:schemeClr val="accent1">
                  <a:lumMod val="75000"/>
                </a:schemeClr>
              </a:solidFill>
              <a:latin typeface="Playfair Display Medium" pitchFamily="2" charset="77"/>
              <a:ea typeface="Yuanti TC" panose="02010600040101010101" pitchFamily="2" charset="-12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rgbClr val="1D2A4A"/>
                </a:solidFill>
                <a:latin typeface="Playfair Display Medium" pitchFamily="2" charset="77"/>
                <a:ea typeface="Yuanti TC" panose="02010600040101010101" pitchFamily="2" charset="-120"/>
              </a:rPr>
              <a:t>數據流向圖</a:t>
            </a:r>
            <a:br>
              <a:rPr lang="en-US" altLang="zh-TW" sz="1400" dirty="0">
                <a:solidFill>
                  <a:srgbClr val="1D2A4A"/>
                </a:solidFill>
                <a:latin typeface="Playfair Display Medium" pitchFamily="2" charset="77"/>
                <a:ea typeface="Yuanti TC" panose="02010600040101010101" pitchFamily="2" charset="-120"/>
              </a:rPr>
            </a:br>
            <a:r>
              <a:rPr lang="zh-TW" altLang="en-US" sz="1100" dirty="0">
                <a:solidFill>
                  <a:schemeClr val="accent1">
                    <a:lumMod val="75000"/>
                  </a:schemeClr>
                </a:solidFill>
                <a:latin typeface="Playfair Display Medium" pitchFamily="2" charset="77"/>
                <a:ea typeface="Yuanti TC" panose="02010600040101010101" pitchFamily="2" charset="-120"/>
              </a:rPr>
              <a:t>誰錄入、誰使用、重複錄入在哪發生</a:t>
            </a:r>
            <a:endParaRPr lang="zh-TW" altLang="en-US" sz="1050" dirty="0">
              <a:solidFill>
                <a:schemeClr val="accent1">
                  <a:lumMod val="75000"/>
                </a:schemeClr>
              </a:solidFill>
              <a:latin typeface="Playfair Display Medium" pitchFamily="2" charset="77"/>
              <a:ea typeface="Yuanti TC" panose="02010600040101010101" pitchFamily="2" charset="-12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rgbClr val="1D2A4A"/>
                </a:solidFill>
                <a:latin typeface="Playfair Display Medium" pitchFamily="2" charset="77"/>
                <a:ea typeface="Yuanti TC" panose="02010600040101010101" pitchFamily="2" charset="-120"/>
              </a:rPr>
              <a:t>欄位對照表</a:t>
            </a:r>
            <a:br>
              <a:rPr lang="en-US" altLang="zh-TW" sz="1400" dirty="0">
                <a:solidFill>
                  <a:srgbClr val="1D2A4A"/>
                </a:solidFill>
                <a:latin typeface="Playfair Display Medium" pitchFamily="2" charset="77"/>
                <a:ea typeface="Yuanti TC" panose="02010600040101010101" pitchFamily="2" charset="-120"/>
              </a:rPr>
            </a:br>
            <a:r>
              <a:rPr lang="zh-TW" altLang="en-US" sz="1100" dirty="0">
                <a:solidFill>
                  <a:schemeClr val="accent1">
                    <a:lumMod val="75000"/>
                  </a:schemeClr>
                </a:solidFill>
                <a:latin typeface="Playfair Display Medium" pitchFamily="2" charset="77"/>
                <a:ea typeface="Yuanti TC" panose="02010600040101010101" pitchFamily="2" charset="-120"/>
              </a:rPr>
              <a:t>現有欄位 </a:t>
            </a:r>
            <a:r>
              <a:rPr lang="en-US" altLang="zh-TW" sz="1100" dirty="0">
                <a:solidFill>
                  <a:schemeClr val="accent1">
                    <a:lumMod val="75000"/>
                  </a:schemeClr>
                </a:solidFill>
                <a:latin typeface="Playfair Display Medium" pitchFamily="2" charset="77"/>
                <a:ea typeface="Yuanti TC" panose="02010600040101010101" pitchFamily="2" charset="-120"/>
              </a:rPr>
              <a:t> </a:t>
            </a:r>
            <a:r>
              <a:rPr lang="en-US" altLang="zh-TW" sz="1100" dirty="0">
                <a:solidFill>
                  <a:schemeClr val="accent1">
                    <a:lumMod val="75000"/>
                  </a:schemeClr>
                </a:solidFill>
                <a:latin typeface="Yuanti TC" panose="02010600040101010101" pitchFamily="2" charset="-120"/>
                <a:ea typeface="Yuanti TC" panose="02010600040101010101" pitchFamily="2" charset="-120"/>
              </a:rPr>
              <a:t>→</a:t>
            </a:r>
            <a:r>
              <a:rPr lang="zh-TW" altLang="en-US" sz="1100" dirty="0">
                <a:solidFill>
                  <a:schemeClr val="accent1">
                    <a:lumMod val="75000"/>
                  </a:schemeClr>
                </a:solidFill>
                <a:latin typeface="Playfair Display Medium" pitchFamily="2" charset="77"/>
                <a:ea typeface="Yuanti TC" panose="02010600040101010101" pitchFamily="2" charset="-120"/>
              </a:rPr>
              <a:t> </a:t>
            </a:r>
            <a:r>
              <a:rPr lang="en-US" altLang="zh-TW" sz="1100" dirty="0">
                <a:solidFill>
                  <a:schemeClr val="accent1">
                    <a:lumMod val="75000"/>
                  </a:schemeClr>
                </a:solidFill>
                <a:latin typeface="Playfair Display Medium" pitchFamily="2" charset="77"/>
                <a:ea typeface="Yuanti TC" panose="02010600040101010101" pitchFamily="2" charset="-120"/>
              </a:rPr>
              <a:t> </a:t>
            </a:r>
            <a:r>
              <a:rPr lang="zh-TW" altLang="en-US" sz="1100" dirty="0">
                <a:solidFill>
                  <a:schemeClr val="accent1">
                    <a:lumMod val="75000"/>
                  </a:schemeClr>
                </a:solidFill>
                <a:latin typeface="Playfair Display Medium" pitchFamily="2" charset="77"/>
                <a:ea typeface="Yuanti TC" panose="02010600040101010101" pitchFamily="2" charset="-120"/>
              </a:rPr>
              <a:t>新系統欄位映射</a:t>
            </a:r>
            <a:endParaRPr lang="zh-TW" altLang="en-US" sz="1050" dirty="0">
              <a:solidFill>
                <a:schemeClr val="accent1">
                  <a:lumMod val="75000"/>
                </a:schemeClr>
              </a:solidFill>
              <a:latin typeface="Playfair Display Medium" pitchFamily="2" charset="77"/>
              <a:ea typeface="Yuanti TC" panose="02010600040101010101" pitchFamily="2" charset="-12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rgbClr val="1D2A4A"/>
                </a:solidFill>
                <a:latin typeface="Playfair Display Medium" pitchFamily="2" charset="77"/>
                <a:ea typeface="Yuanti TC" panose="02010600040101010101" pitchFamily="2" charset="-120"/>
              </a:rPr>
              <a:t>遷移計劃</a:t>
            </a:r>
            <a:br>
              <a:rPr lang="en-US" altLang="zh-TW" sz="1400" dirty="0">
                <a:solidFill>
                  <a:srgbClr val="1D2A4A"/>
                </a:solidFill>
                <a:latin typeface="Playfair Display Medium" pitchFamily="2" charset="77"/>
                <a:ea typeface="Yuanti TC" panose="02010600040101010101" pitchFamily="2" charset="-120"/>
              </a:rPr>
            </a:br>
            <a:r>
              <a:rPr lang="zh-TW" altLang="en-US" sz="1100" dirty="0">
                <a:solidFill>
                  <a:schemeClr val="accent1">
                    <a:lumMod val="75000"/>
                  </a:schemeClr>
                </a:solidFill>
                <a:latin typeface="Playfair Display Medium" pitchFamily="2" charset="77"/>
                <a:ea typeface="Yuanti TC" panose="02010600040101010101" pitchFamily="2" charset="-120"/>
              </a:rPr>
              <a:t>哪些先搬、哪些後搬、預估工作量</a:t>
            </a:r>
            <a:endParaRPr lang="zh-TW" altLang="en-US" sz="1050" dirty="0">
              <a:solidFill>
                <a:schemeClr val="accent1">
                  <a:lumMod val="75000"/>
                </a:schemeClr>
              </a:solidFill>
              <a:latin typeface="Playfair Display Medium" pitchFamily="2" charset="77"/>
              <a:ea typeface="Yuanti TC" panose="02010600040101010101" pitchFamily="2" charset="-12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rgbClr val="1D2A4A"/>
                </a:solidFill>
                <a:latin typeface="Playfair Display Medium" pitchFamily="2" charset="77"/>
                <a:ea typeface="Yuanti TC" panose="02010600040101010101" pitchFamily="2" charset="-120"/>
              </a:rPr>
              <a:t>對接方案 </a:t>
            </a:r>
            <a:br>
              <a:rPr lang="en-US" altLang="zh-TW" sz="1400" dirty="0">
                <a:solidFill>
                  <a:srgbClr val="1D2A4A"/>
                </a:solidFill>
                <a:latin typeface="Playfair Display Medium" pitchFamily="2" charset="77"/>
                <a:ea typeface="Yuanti TC" panose="02010600040101010101" pitchFamily="2" charset="-120"/>
              </a:rPr>
            </a:br>
            <a:r>
              <a:rPr lang="en-US" altLang="zh-TW" sz="1100" dirty="0">
                <a:solidFill>
                  <a:schemeClr val="accent1">
                    <a:lumMod val="75000"/>
                  </a:schemeClr>
                </a:solidFill>
                <a:latin typeface="Playfair Display Medium" pitchFamily="2" charset="77"/>
                <a:ea typeface="Yuanti TC" panose="02010600040101010101" pitchFamily="2" charset="-120"/>
              </a:rPr>
              <a:t>e-Class </a:t>
            </a:r>
            <a:r>
              <a:rPr lang="zh-TW" altLang="en-US" sz="1100" dirty="0">
                <a:solidFill>
                  <a:schemeClr val="accent1">
                    <a:lumMod val="75000"/>
                  </a:schemeClr>
                </a:solidFill>
                <a:latin typeface="Playfair Display Medium" pitchFamily="2" charset="77"/>
                <a:ea typeface="Yuanti TC" panose="02010600040101010101" pitchFamily="2" charset="-120"/>
              </a:rPr>
              <a:t>打卡數據如何進入新系統</a:t>
            </a:r>
            <a:endParaRPr lang="zh-TW" altLang="en-US" sz="1050" dirty="0">
              <a:solidFill>
                <a:schemeClr val="accent1">
                  <a:lumMod val="75000"/>
                </a:schemeClr>
              </a:solidFill>
              <a:latin typeface="Playfair Display Medium" pitchFamily="2" charset="77"/>
              <a:ea typeface="Yuanti TC" panose="02010600040101010101" pitchFamily="2" charset="-12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rgbClr val="1D2A4A"/>
                </a:solidFill>
                <a:latin typeface="Playfair Display Medium" pitchFamily="2" charset="77"/>
                <a:ea typeface="Yuanti TC" panose="02010600040101010101" pitchFamily="2" charset="-120"/>
              </a:rPr>
              <a:t>部署建議</a:t>
            </a:r>
            <a:br>
              <a:rPr lang="en-US" altLang="zh-TW" sz="1400" dirty="0">
                <a:solidFill>
                  <a:srgbClr val="1D2A4A"/>
                </a:solidFill>
                <a:latin typeface="Playfair Display Medium" pitchFamily="2" charset="77"/>
                <a:ea typeface="Yuanti TC" panose="02010600040101010101" pitchFamily="2" charset="-120"/>
              </a:rPr>
            </a:br>
            <a:r>
              <a:rPr lang="zh-TW" altLang="en-US" sz="1100" dirty="0">
                <a:solidFill>
                  <a:schemeClr val="accent1">
                    <a:lumMod val="75000"/>
                  </a:schemeClr>
                </a:solidFill>
                <a:latin typeface="Playfair Display Medium" pitchFamily="2" charset="77"/>
                <a:ea typeface="Yuanti TC" panose="02010600040101010101" pitchFamily="2" charset="-120"/>
              </a:rPr>
              <a:t>校內伺服器 </a:t>
            </a:r>
            <a:r>
              <a:rPr lang="en-US" altLang="zh-TW" sz="1100" dirty="0">
                <a:solidFill>
                  <a:schemeClr val="accent1">
                    <a:lumMod val="75000"/>
                  </a:schemeClr>
                </a:solidFill>
                <a:latin typeface="Playfair Display Medium" pitchFamily="2" charset="77"/>
                <a:ea typeface="Yuanti TC" panose="02010600040101010101" pitchFamily="2" charset="-120"/>
              </a:rPr>
              <a:t>vs </a:t>
            </a:r>
            <a:r>
              <a:rPr lang="zh-TW" altLang="en-US" sz="1100" dirty="0">
                <a:solidFill>
                  <a:schemeClr val="accent1">
                    <a:lumMod val="75000"/>
                  </a:schemeClr>
                </a:solidFill>
                <a:latin typeface="Playfair Display Medium" pitchFamily="2" charset="77"/>
                <a:ea typeface="Yuanti TC" panose="02010600040101010101" pitchFamily="2" charset="-120"/>
              </a:rPr>
              <a:t>本地雲</a:t>
            </a:r>
            <a:endParaRPr lang="zh-TW" altLang="en-US" sz="1050" dirty="0">
              <a:solidFill>
                <a:schemeClr val="accent1">
                  <a:lumMod val="75000"/>
                </a:schemeClr>
              </a:solidFill>
              <a:latin typeface="Playfair Display Medium" pitchFamily="2" charset="77"/>
              <a:ea typeface="Yuanti TC" panose="02010600040101010101" pitchFamily="2" charset="-12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rgbClr val="1D2A4A"/>
                </a:solidFill>
                <a:latin typeface="Playfair Display Medium" pitchFamily="2" charset="77"/>
                <a:ea typeface="Yuanti TC" panose="02010600040101010101" pitchFamily="2" charset="-120"/>
              </a:rPr>
              <a:t>風險清單</a:t>
            </a:r>
            <a:br>
              <a:rPr lang="en-US" altLang="zh-TW" sz="1400" dirty="0">
                <a:solidFill>
                  <a:srgbClr val="1D2A4A"/>
                </a:solidFill>
                <a:latin typeface="Playfair Display Medium" pitchFamily="2" charset="77"/>
                <a:ea typeface="Yuanti TC" panose="02010600040101010101" pitchFamily="2" charset="-120"/>
              </a:rPr>
            </a:br>
            <a:r>
              <a:rPr lang="zh-TW" altLang="en-US" sz="1100" dirty="0">
                <a:solidFill>
                  <a:schemeClr val="accent1">
                    <a:lumMod val="75000"/>
                  </a:schemeClr>
                </a:solidFill>
                <a:latin typeface="Playfair Display Medium" pitchFamily="2" charset="77"/>
                <a:ea typeface="Yuanti TC" panose="02010600040101010101" pitchFamily="2" charset="-120"/>
              </a:rPr>
              <a:t>資料缺失、格式不一等</a:t>
            </a:r>
            <a:endParaRPr lang="zh-TW" altLang="en-US" sz="1050" dirty="0">
              <a:solidFill>
                <a:schemeClr val="accent1">
                  <a:lumMod val="75000"/>
                </a:schemeClr>
              </a:solidFill>
              <a:latin typeface="Playfair Display Medium" pitchFamily="2" charset="77"/>
              <a:ea typeface="Yuanti TC" panose="02010600040101010101" pitchFamily="2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155</Words>
  <Application>Microsoft Macintosh PowerPoint</Application>
  <PresentationFormat>Widescreen</PresentationFormat>
  <Paragraphs>26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Yuanti TC</vt:lpstr>
      <vt:lpstr>Arial</vt:lpstr>
      <vt:lpstr>Playfair Display Black</vt:lpstr>
      <vt:lpstr>Playfair Display Medium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項目時間線 2026–2027</dc:title>
  <dc:subject>PptxGenJS Presentation</dc:subject>
  <dc:creator>廣大中學智慧管理平台</dc:creator>
  <cp:lastModifiedBy>a48169</cp:lastModifiedBy>
  <cp:revision>8</cp:revision>
  <dcterms:created xsi:type="dcterms:W3CDTF">2026-09-18T04:36:14Z</dcterms:created>
  <dcterms:modified xsi:type="dcterms:W3CDTF">2026-09-18T09:44:15Z</dcterms:modified>
</cp:coreProperties>
</file>